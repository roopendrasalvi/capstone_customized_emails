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68" r:id="rId3"/>
    <p:sldId id="269" r:id="rId4"/>
    <p:sldId id="288" r:id="rId5"/>
    <p:sldId id="286" r:id="rId6"/>
    <p:sldId id="278" r:id="rId7"/>
    <p:sldId id="299" r:id="rId8"/>
    <p:sldId id="289" r:id="rId9"/>
    <p:sldId id="270" r:id="rId10"/>
    <p:sldId id="290" r:id="rId11"/>
    <p:sldId id="291" r:id="rId12"/>
    <p:sldId id="292" r:id="rId13"/>
    <p:sldId id="293" r:id="rId14"/>
    <p:sldId id="294" r:id="rId15"/>
    <p:sldId id="295" r:id="rId16"/>
    <p:sldId id="296" r:id="rId17"/>
    <p:sldId id="297" r:id="rId18"/>
    <p:sldId id="29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4660"/>
  </p:normalViewPr>
  <p:slideViewPr>
    <p:cSldViewPr snapToGrid="0" snapToObjects="1">
      <p:cViewPr>
        <p:scale>
          <a:sx n="60" d="100"/>
          <a:sy n="60" d="100"/>
        </p:scale>
        <p:origin x="1304"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0F413-C446-48E3-AC3D-C8AF3A6EED33}"/>
              </a:ext>
            </a:extLst>
          </p:cNvPr>
          <p:cNvSpPr>
            <a:spLocks noGrp="1"/>
          </p:cNvSpPr>
          <p:nvPr>
            <p:ph type="ctrTitle"/>
          </p:nvPr>
        </p:nvSpPr>
        <p:spPr>
          <a:xfrm>
            <a:off x="685800" y="2130425"/>
            <a:ext cx="7772400" cy="1872615"/>
          </a:xfrm>
        </p:spPr>
        <p:txBody>
          <a:bodyPr/>
          <a:lstStyle/>
          <a:p>
            <a:r>
              <a:rPr lang="en-IN" dirty="0">
                <a:solidFill>
                  <a:srgbClr val="0070C0"/>
                </a:solidFill>
              </a:rPr>
              <a:t>Profile-Based Customised Emails For Mass Mailing </a:t>
            </a:r>
          </a:p>
        </p:txBody>
      </p:sp>
      <p:sp>
        <p:nvSpPr>
          <p:cNvPr id="3" name="Subtitle 2">
            <a:extLst>
              <a:ext uri="{FF2B5EF4-FFF2-40B4-BE49-F238E27FC236}">
                <a16:creationId xmlns:a16="http://schemas.microsoft.com/office/drawing/2014/main" id="{59C18073-8022-4F6C-B795-A23714331291}"/>
              </a:ext>
            </a:extLst>
          </p:cNvPr>
          <p:cNvSpPr>
            <a:spLocks noGrp="1"/>
          </p:cNvSpPr>
          <p:nvPr>
            <p:ph type="subTitle" idx="1"/>
          </p:nvPr>
        </p:nvSpPr>
        <p:spPr/>
        <p:txBody>
          <a:bodyPr/>
          <a:lstStyle/>
          <a:p>
            <a:endParaRPr lang="en-IN" dirty="0"/>
          </a:p>
          <a:p>
            <a:endParaRPr lang="en-IN" dirty="0"/>
          </a:p>
        </p:txBody>
      </p:sp>
      <p:sp>
        <p:nvSpPr>
          <p:cNvPr id="4" name="TextBox 3">
            <a:extLst>
              <a:ext uri="{FF2B5EF4-FFF2-40B4-BE49-F238E27FC236}">
                <a16:creationId xmlns:a16="http://schemas.microsoft.com/office/drawing/2014/main" id="{CB977222-BFCA-4897-9F37-426A11F247E6}"/>
              </a:ext>
            </a:extLst>
          </p:cNvPr>
          <p:cNvSpPr txBox="1"/>
          <p:nvPr/>
        </p:nvSpPr>
        <p:spPr>
          <a:xfrm>
            <a:off x="0" y="4903875"/>
            <a:ext cx="4077101" cy="1015663"/>
          </a:xfrm>
          <a:prstGeom prst="rect">
            <a:avLst/>
          </a:prstGeom>
          <a:noFill/>
        </p:spPr>
        <p:txBody>
          <a:bodyPr wrap="square" rtlCol="0">
            <a:spAutoFit/>
          </a:bodyPr>
          <a:lstStyle/>
          <a:p>
            <a:r>
              <a:rPr lang="en-IN" sz="2000" dirty="0"/>
              <a:t>Name : Mrs. Priya Gochide</a:t>
            </a:r>
          </a:p>
          <a:p>
            <a:r>
              <a:rPr lang="en-IN" sz="2000" dirty="0"/>
              <a:t>              Mr. Roopendra Salvi     		   	      Mr. Vinayak Patil</a:t>
            </a:r>
          </a:p>
        </p:txBody>
      </p:sp>
      <p:pic>
        <p:nvPicPr>
          <p:cNvPr id="1026" name="Picture 2" descr="YASH Technologies Logo &amp; Brand Assets ...">
            <a:extLst>
              <a:ext uri="{FF2B5EF4-FFF2-40B4-BE49-F238E27FC236}">
                <a16:creationId xmlns:a16="http://schemas.microsoft.com/office/drawing/2014/main" id="{97B98E70-FCC0-4287-8491-40533D17EB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1120" y="-873"/>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more than what you think">
            <a:extLst>
              <a:ext uri="{FF2B5EF4-FFF2-40B4-BE49-F238E27FC236}">
                <a16:creationId xmlns:a16="http://schemas.microsoft.com/office/drawing/2014/main" id="{3784163C-A200-4730-8696-93101EB5D9A9}"/>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0"/>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0939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74E4-82F8-4FA6-9FEE-80ADB1822798}"/>
              </a:ext>
            </a:extLst>
          </p:cNvPr>
          <p:cNvSpPr>
            <a:spLocks noGrp="1"/>
          </p:cNvSpPr>
          <p:nvPr>
            <p:ph type="title"/>
          </p:nvPr>
        </p:nvSpPr>
        <p:spPr>
          <a:xfrm>
            <a:off x="0" y="202448"/>
            <a:ext cx="9144000" cy="457199"/>
          </a:xfrm>
        </p:spPr>
        <p:txBody>
          <a:bodyPr>
            <a:normAutofit fontScale="90000"/>
          </a:bodyPr>
          <a:lstStyle/>
          <a:p>
            <a:r>
              <a:rPr lang="en-IN" dirty="0">
                <a:solidFill>
                  <a:schemeClr val="accent5">
                    <a:lumMod val="75000"/>
                  </a:schemeClr>
                </a:solidFill>
              </a:rPr>
              <a:t>Introduction</a:t>
            </a:r>
          </a:p>
        </p:txBody>
      </p:sp>
      <p:sp>
        <p:nvSpPr>
          <p:cNvPr id="5" name="Content Placeholder 2">
            <a:extLst>
              <a:ext uri="{FF2B5EF4-FFF2-40B4-BE49-F238E27FC236}">
                <a16:creationId xmlns:a16="http://schemas.microsoft.com/office/drawing/2014/main" id="{327814E8-B402-4D1E-BE6F-EC9DC20B218D}"/>
              </a:ext>
            </a:extLst>
          </p:cNvPr>
          <p:cNvSpPr>
            <a:spLocks noGrp="1"/>
          </p:cNvSpPr>
          <p:nvPr>
            <p:ph idx="1"/>
          </p:nvPr>
        </p:nvSpPr>
        <p:spPr>
          <a:xfrm>
            <a:off x="0" y="1490738"/>
            <a:ext cx="9144000" cy="3467363"/>
          </a:xfrm>
        </p:spPr>
        <p:txBody>
          <a:bodyPr>
            <a:normAutofit/>
          </a:bodyPr>
          <a:lstStyle/>
          <a:p>
            <a:pPr>
              <a:lnSpc>
                <a:spcPct val="120000"/>
              </a:lnSpc>
              <a:buFont typeface="Wingdings" panose="05000000000000000000" pitchFamily="2" charset="2"/>
              <a:buChar char="§"/>
            </a:pPr>
            <a:r>
              <a:rPr lang="en-IN" sz="2400" dirty="0">
                <a:latin typeface="Arial" panose="020B0604020202020204" pitchFamily="34" charset="0"/>
                <a:cs typeface="Arial" panose="020B0604020202020204" pitchFamily="34" charset="0"/>
              </a:rPr>
              <a:t>Organisations need personalised mass communication.</a:t>
            </a:r>
          </a:p>
          <a:p>
            <a:pPr>
              <a:lnSpc>
                <a:spcPct val="120000"/>
              </a:lnSpc>
              <a:buFont typeface="Wingdings" panose="05000000000000000000" pitchFamily="2" charset="2"/>
              <a:buChar char="§"/>
            </a:pPr>
            <a:r>
              <a:rPr lang="en-IN" sz="2400" dirty="0">
                <a:latin typeface="Arial" panose="020B0604020202020204" pitchFamily="34" charset="0"/>
                <a:cs typeface="Arial" panose="020B0604020202020204" pitchFamily="34" charset="0"/>
              </a:rPr>
              <a:t>Traditional rule-based systems fail at scale.</a:t>
            </a:r>
          </a:p>
          <a:p>
            <a:pPr>
              <a:lnSpc>
                <a:spcPct val="120000"/>
              </a:lnSpc>
              <a:buFont typeface="Wingdings" panose="05000000000000000000" pitchFamily="2" charset="2"/>
              <a:buChar char="§"/>
            </a:pPr>
            <a:r>
              <a:rPr lang="en-IN" sz="2400" dirty="0">
                <a:latin typeface="Arial" panose="020B0604020202020204" pitchFamily="34" charset="0"/>
                <a:cs typeface="Arial" panose="020B0604020202020204" pitchFamily="34" charset="0"/>
              </a:rPr>
              <a:t>Solution: AI-driven email generation using user profiles.</a:t>
            </a:r>
          </a:p>
          <a:p>
            <a:pPr>
              <a:lnSpc>
                <a:spcPct val="120000"/>
              </a:lnSpc>
              <a:buFont typeface="Wingdings" panose="05000000000000000000" pitchFamily="2" charset="2"/>
              <a:buChar char="§"/>
            </a:pPr>
            <a:r>
              <a:rPr lang="en-IN" sz="2400" dirty="0">
                <a:latin typeface="Arial" panose="020B0604020202020204" pitchFamily="34" charset="0"/>
                <a:cs typeface="Arial" panose="020B0604020202020204" pitchFamily="34" charset="0"/>
              </a:rPr>
              <a:t>Incorporates RAG, MCP(agent to agent communication), and vector search via Pinecone.</a:t>
            </a:r>
          </a:p>
          <a:p>
            <a:pPr>
              <a:lnSpc>
                <a:spcPct val="120000"/>
              </a:lnSpc>
              <a:buFont typeface="Wingdings" panose="05000000000000000000" pitchFamily="2" charset="2"/>
              <a:buChar char="§"/>
            </a:pPr>
            <a:endParaRPr sz="2400" dirty="0">
              <a:latin typeface="Arial" panose="020B0604020202020204" pitchFamily="34" charset="0"/>
              <a:cs typeface="Arial" panose="020B0604020202020204" pitchFamily="34" charset="0"/>
            </a:endParaRPr>
          </a:p>
        </p:txBody>
      </p:sp>
      <p:pic>
        <p:nvPicPr>
          <p:cNvPr id="6" name="Picture 2" descr="YASH Technologies Logo &amp; Brand Assets ...">
            <a:extLst>
              <a:ext uri="{FF2B5EF4-FFF2-40B4-BE49-F238E27FC236}">
                <a16:creationId xmlns:a16="http://schemas.microsoft.com/office/drawing/2014/main" id="{E66A82E2-6447-43DC-9AD0-AB2C625FB1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more than what you think">
            <a:extLst>
              <a:ext uri="{FF2B5EF4-FFF2-40B4-BE49-F238E27FC236}">
                <a16:creationId xmlns:a16="http://schemas.microsoft.com/office/drawing/2014/main" id="{5385484A-1511-49A1-BA44-AD45ADC13D17}"/>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378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74E4-82F8-4FA6-9FEE-80ADB1822798}"/>
              </a:ext>
            </a:extLst>
          </p:cNvPr>
          <p:cNvSpPr>
            <a:spLocks noGrp="1"/>
          </p:cNvSpPr>
          <p:nvPr>
            <p:ph type="title"/>
          </p:nvPr>
        </p:nvSpPr>
        <p:spPr>
          <a:xfrm>
            <a:off x="-9962" y="245823"/>
            <a:ext cx="9144000" cy="457199"/>
          </a:xfrm>
        </p:spPr>
        <p:txBody>
          <a:bodyPr>
            <a:normAutofit fontScale="90000"/>
          </a:bodyPr>
          <a:lstStyle/>
          <a:p>
            <a:r>
              <a:rPr lang="en-IN" dirty="0">
                <a:solidFill>
                  <a:schemeClr val="accent5">
                    <a:lumMod val="75000"/>
                  </a:schemeClr>
                </a:solidFill>
              </a:rPr>
              <a:t>Problem Statement</a:t>
            </a:r>
          </a:p>
        </p:txBody>
      </p:sp>
      <p:sp>
        <p:nvSpPr>
          <p:cNvPr id="7" name="Content Placeholder 2">
            <a:extLst>
              <a:ext uri="{FF2B5EF4-FFF2-40B4-BE49-F238E27FC236}">
                <a16:creationId xmlns:a16="http://schemas.microsoft.com/office/drawing/2014/main" id="{0648903A-F184-44E2-8C70-60AF5CC09E75}"/>
              </a:ext>
            </a:extLst>
          </p:cNvPr>
          <p:cNvSpPr>
            <a:spLocks noGrp="1"/>
          </p:cNvSpPr>
          <p:nvPr>
            <p:ph idx="1"/>
          </p:nvPr>
        </p:nvSpPr>
        <p:spPr>
          <a:xfrm>
            <a:off x="0" y="1600201"/>
            <a:ext cx="9134038" cy="4170680"/>
          </a:xfrm>
        </p:spPr>
        <p:txBody>
          <a:bodyPr>
            <a:normAutofit/>
          </a:bodyPr>
          <a:lstStyle/>
          <a:p>
            <a:pPr>
              <a:buFont typeface="Wingdings" panose="05000000000000000000" pitchFamily="2" charset="2"/>
              <a:buChar char="§"/>
            </a:pPr>
            <a:r>
              <a:rPr lang="en-IN" sz="2400" dirty="0">
                <a:latin typeface="Arial" panose="020B0604020202020204" pitchFamily="34" charset="0"/>
                <a:cs typeface="Arial" panose="020B0604020202020204" pitchFamily="34" charset="0"/>
              </a:rPr>
              <a:t>Generic bulk emails lead to low engagement.</a:t>
            </a:r>
          </a:p>
          <a:p>
            <a:pPr>
              <a:buFont typeface="Wingdings" panose="05000000000000000000" pitchFamily="2" charset="2"/>
              <a:buChar char="§"/>
            </a:pPr>
            <a:r>
              <a:rPr lang="en-IN" sz="2400" dirty="0">
                <a:latin typeface="Arial" panose="020B0604020202020204" pitchFamily="34" charset="0"/>
                <a:cs typeface="Arial" panose="020B0604020202020204" pitchFamily="34" charset="0"/>
              </a:rPr>
              <a:t>Manual personised email writing is slow.</a:t>
            </a:r>
          </a:p>
          <a:p>
            <a:pPr>
              <a:buFont typeface="Wingdings" panose="05000000000000000000" pitchFamily="2" charset="2"/>
              <a:buChar char="§"/>
            </a:pPr>
            <a:r>
              <a:rPr lang="en-IN" sz="2400" dirty="0">
                <a:latin typeface="Arial" panose="020B0604020202020204" pitchFamily="34" charset="0"/>
                <a:cs typeface="Arial" panose="020B0604020202020204" pitchFamily="34" charset="0"/>
              </a:rPr>
              <a:t>Lack of automated workflow for email response or CTA generation.</a:t>
            </a:r>
            <a:endParaRPr sz="2400" dirty="0">
              <a:latin typeface="Arial" panose="020B0604020202020204" pitchFamily="34" charset="0"/>
              <a:cs typeface="Arial" panose="020B0604020202020204" pitchFamily="34" charset="0"/>
            </a:endParaRPr>
          </a:p>
        </p:txBody>
      </p:sp>
      <p:pic>
        <p:nvPicPr>
          <p:cNvPr id="9" name="Picture 2" descr="YASH Technologies Logo &amp; Brand Assets ...">
            <a:extLst>
              <a:ext uri="{FF2B5EF4-FFF2-40B4-BE49-F238E27FC236}">
                <a16:creationId xmlns:a16="http://schemas.microsoft.com/office/drawing/2014/main" id="{EDAFDA61-5F84-4FED-9564-17260208D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6348"/>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more than what you think">
            <a:extLst>
              <a:ext uri="{FF2B5EF4-FFF2-40B4-BE49-F238E27FC236}">
                <a16:creationId xmlns:a16="http://schemas.microsoft.com/office/drawing/2014/main" id="{7C146341-E0E2-48B9-9D71-FED96C2CB4A7}"/>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397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74E4-82F8-4FA6-9FEE-80ADB1822798}"/>
              </a:ext>
            </a:extLst>
          </p:cNvPr>
          <p:cNvSpPr>
            <a:spLocks noGrp="1"/>
          </p:cNvSpPr>
          <p:nvPr>
            <p:ph type="title"/>
          </p:nvPr>
        </p:nvSpPr>
        <p:spPr>
          <a:xfrm>
            <a:off x="-9962" y="228599"/>
            <a:ext cx="9144000" cy="457199"/>
          </a:xfrm>
        </p:spPr>
        <p:txBody>
          <a:bodyPr>
            <a:normAutofit fontScale="90000"/>
          </a:bodyPr>
          <a:lstStyle/>
          <a:p>
            <a:r>
              <a:rPr lang="en-IN" dirty="0">
                <a:solidFill>
                  <a:schemeClr val="accent5">
                    <a:lumMod val="75000"/>
                  </a:schemeClr>
                </a:solidFill>
              </a:rPr>
              <a:t>Objective</a:t>
            </a:r>
          </a:p>
        </p:txBody>
      </p:sp>
      <p:sp>
        <p:nvSpPr>
          <p:cNvPr id="7" name="Content Placeholder 2">
            <a:extLst>
              <a:ext uri="{FF2B5EF4-FFF2-40B4-BE49-F238E27FC236}">
                <a16:creationId xmlns:a16="http://schemas.microsoft.com/office/drawing/2014/main" id="{0648903A-F184-44E2-8C70-60AF5CC09E75}"/>
              </a:ext>
            </a:extLst>
          </p:cNvPr>
          <p:cNvSpPr>
            <a:spLocks noGrp="1"/>
          </p:cNvSpPr>
          <p:nvPr>
            <p:ph idx="1"/>
          </p:nvPr>
        </p:nvSpPr>
        <p:spPr>
          <a:xfrm>
            <a:off x="0" y="1600201"/>
            <a:ext cx="9134038" cy="4170680"/>
          </a:xfrm>
        </p:spPr>
        <p:txBody>
          <a:bodyPr>
            <a:normAutofit/>
          </a:bodyPr>
          <a:lstStyle/>
          <a:p>
            <a:pPr>
              <a:buFont typeface="Wingdings" panose="05000000000000000000" pitchFamily="2" charset="2"/>
              <a:buChar char="§"/>
            </a:pPr>
            <a:r>
              <a:rPr lang="en-IN" sz="2200" dirty="0">
                <a:latin typeface="Arial" panose="020B0604020202020204" pitchFamily="34" charset="0"/>
                <a:cs typeface="Arial" panose="020B0604020202020204" pitchFamily="34" charset="0"/>
              </a:rPr>
              <a:t>Build a context – aware personalised email engine.</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Build profile embeddings and store them in Pinecone.</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Use RAG to fetch relevant templates/content.</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Use of knowledge base to provide external context to the LLM.</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Delivers customised emails.</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Intelligent understanding of user profile attributes</a:t>
            </a:r>
            <a:endParaRPr sz="2200" dirty="0">
              <a:latin typeface="Arial" panose="020B0604020202020204" pitchFamily="34" charset="0"/>
              <a:cs typeface="Arial" panose="020B0604020202020204" pitchFamily="34" charset="0"/>
            </a:endParaRPr>
          </a:p>
        </p:txBody>
      </p:sp>
      <p:pic>
        <p:nvPicPr>
          <p:cNvPr id="9" name="Picture 2" descr="YASH Technologies Logo &amp; Brand Assets ...">
            <a:extLst>
              <a:ext uri="{FF2B5EF4-FFF2-40B4-BE49-F238E27FC236}">
                <a16:creationId xmlns:a16="http://schemas.microsoft.com/office/drawing/2014/main" id="{EDAFDA61-5F84-4FED-9564-17260208D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8808" y="7650"/>
            <a:ext cx="1616323" cy="15639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2F956882-396D-4EA8-9974-9E8D3B367A12}"/>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164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798AF-963B-49D9-820E-E0209088CB42}"/>
              </a:ext>
            </a:extLst>
          </p:cNvPr>
          <p:cNvSpPr>
            <a:spLocks noGrp="1"/>
          </p:cNvSpPr>
          <p:nvPr>
            <p:ph type="title"/>
          </p:nvPr>
        </p:nvSpPr>
        <p:spPr>
          <a:xfrm>
            <a:off x="0" y="274638"/>
            <a:ext cx="8229600" cy="607864"/>
          </a:xfrm>
        </p:spPr>
        <p:txBody>
          <a:bodyPr vert="horz" lIns="91440" tIns="45720" rIns="91440" bIns="45720" rtlCol="0" anchor="ctr">
            <a:normAutofit fontScale="90000"/>
          </a:bodyPr>
          <a:lstStyle/>
          <a:p>
            <a:r>
              <a:rPr lang="en-IN" sz="4000" dirty="0">
                <a:solidFill>
                  <a:schemeClr val="accent5">
                    <a:lumMod val="75000"/>
                  </a:schemeClr>
                </a:solidFill>
              </a:rPr>
              <a:t>Proposed Solution</a:t>
            </a:r>
          </a:p>
        </p:txBody>
      </p:sp>
      <p:sp>
        <p:nvSpPr>
          <p:cNvPr id="3" name="Content Placeholder 2">
            <a:extLst>
              <a:ext uri="{FF2B5EF4-FFF2-40B4-BE49-F238E27FC236}">
                <a16:creationId xmlns:a16="http://schemas.microsoft.com/office/drawing/2014/main" id="{769BB482-622E-4559-B94D-23769F897965}"/>
              </a:ext>
            </a:extLst>
          </p:cNvPr>
          <p:cNvSpPr>
            <a:spLocks noGrp="1"/>
          </p:cNvSpPr>
          <p:nvPr>
            <p:ph idx="1"/>
          </p:nvPr>
        </p:nvSpPr>
        <p:spPr>
          <a:xfrm>
            <a:off x="-1" y="1648592"/>
            <a:ext cx="9143999" cy="3199855"/>
          </a:xfrm>
        </p:spPr>
        <p:txBody>
          <a:bodyPr>
            <a:normAutofit/>
          </a:bodyPr>
          <a:lstStyle/>
          <a:p>
            <a:pPr>
              <a:buFont typeface="Wingdings" panose="05000000000000000000" pitchFamily="2" charset="2"/>
              <a:buChar char="§"/>
            </a:pPr>
            <a:r>
              <a:rPr lang="en-IN" sz="2200" dirty="0">
                <a:latin typeface="Arial" panose="020B0604020202020204" pitchFamily="34" charset="0"/>
                <a:cs typeface="Arial" panose="020B0604020202020204" pitchFamily="34" charset="0"/>
              </a:rPr>
              <a:t>An AI-powered personalised emailing engine.</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Uses Retrieval-Augmented Generation (RAG) for relevant content.</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Pinecone for fast similarity search and profile embeddings.</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Auto CTA generation and bulk dispatch.</a:t>
            </a:r>
          </a:p>
        </p:txBody>
      </p:sp>
      <p:pic>
        <p:nvPicPr>
          <p:cNvPr id="4" name="Picture 2" descr="YASH Technologies Logo &amp; Brand Assets ...">
            <a:extLst>
              <a:ext uri="{FF2B5EF4-FFF2-40B4-BE49-F238E27FC236}">
                <a16:creationId xmlns:a16="http://schemas.microsoft.com/office/drawing/2014/main" id="{4F042BF9-9C38-498D-81A4-3EDBE27BF7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2874" y="5984"/>
            <a:ext cx="1553254" cy="15029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676204BE-7AF4-408A-BC23-B0B6C9789DC2}"/>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1034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74E4-82F8-4FA6-9FEE-80ADB1822798}"/>
              </a:ext>
            </a:extLst>
          </p:cNvPr>
          <p:cNvSpPr>
            <a:spLocks noGrp="1"/>
          </p:cNvSpPr>
          <p:nvPr>
            <p:ph type="title"/>
          </p:nvPr>
        </p:nvSpPr>
        <p:spPr>
          <a:xfrm>
            <a:off x="0" y="173038"/>
            <a:ext cx="9144000" cy="457199"/>
          </a:xfrm>
        </p:spPr>
        <p:txBody>
          <a:bodyPr>
            <a:normAutofit fontScale="90000"/>
          </a:bodyPr>
          <a:lstStyle/>
          <a:p>
            <a:r>
              <a:rPr lang="en-IN" dirty="0">
                <a:solidFill>
                  <a:schemeClr val="accent5">
                    <a:lumMod val="75000"/>
                  </a:schemeClr>
                </a:solidFill>
              </a:rPr>
              <a:t>System Architecture</a:t>
            </a:r>
          </a:p>
        </p:txBody>
      </p:sp>
      <p:pic>
        <p:nvPicPr>
          <p:cNvPr id="10" name="Picture 2" descr="YASH Technologies Logo &amp; Brand Assets ...">
            <a:extLst>
              <a:ext uri="{FF2B5EF4-FFF2-40B4-BE49-F238E27FC236}">
                <a16:creationId xmlns:a16="http://schemas.microsoft.com/office/drawing/2014/main" id="{8AAA5904-DFE3-446A-A3B7-ACC042231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C:\Users\priya.gochide\AppData\Local\Microsoft\Windows\INetCache\Content.MSO\678EF022.tmp">
            <a:extLst>
              <a:ext uri="{FF2B5EF4-FFF2-40B4-BE49-F238E27FC236}">
                <a16:creationId xmlns:a16="http://schemas.microsoft.com/office/drawing/2014/main" id="{DCB4E884-BE10-4AFE-9B3C-6DDA50C2C047}"/>
              </a:ext>
            </a:extLst>
          </p:cNvPr>
          <p:cNvPicPr/>
          <p:nvPr/>
        </p:nvPicPr>
        <p:blipFill rotWithShape="1">
          <a:blip r:embed="rId3" cstate="print">
            <a:extLst>
              <a:ext uri="{28A0092B-C50C-407E-A947-70E740481C1C}">
                <a14:useLocalDpi xmlns:a14="http://schemas.microsoft.com/office/drawing/2010/main" val="0"/>
              </a:ext>
            </a:extLst>
          </a:blip>
          <a:srcRect t="17421" b="18539"/>
          <a:stretch/>
        </p:blipFill>
        <p:spPr bwMode="auto">
          <a:xfrm>
            <a:off x="2775098" y="935665"/>
            <a:ext cx="4025300" cy="4890977"/>
          </a:xfrm>
          <a:prstGeom prst="rect">
            <a:avLst/>
          </a:prstGeom>
          <a:noFill/>
          <a:ln>
            <a:solidFill>
              <a:sysClr val="windowText" lastClr="000000"/>
            </a:solidFill>
          </a:ln>
          <a:extLst>
            <a:ext uri="{53640926-AAD7-44D8-BBD7-CCE9431645EC}">
              <a14:shadowObscured xmlns:a14="http://schemas.microsoft.com/office/drawing/2010/main"/>
            </a:ext>
          </a:extLst>
        </p:spPr>
      </p:pic>
      <p:pic>
        <p:nvPicPr>
          <p:cNvPr id="13" name="Picture 2" descr="more than what you think">
            <a:extLst>
              <a:ext uri="{FF2B5EF4-FFF2-40B4-BE49-F238E27FC236}">
                <a16:creationId xmlns:a16="http://schemas.microsoft.com/office/drawing/2014/main" id="{70A0F65A-4EA5-48F1-9009-DF54C48247B0}"/>
              </a:ext>
              <a:ext uri="{C183D7F6-B498-43B3-948B-1728B52AA6E4}">
                <adec:decorative xmlns:adec="http://schemas.microsoft.com/office/drawing/2017/decorative" val="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017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EBC98-E45C-4091-947F-A03A8191ADD8}"/>
              </a:ext>
            </a:extLst>
          </p:cNvPr>
          <p:cNvSpPr>
            <a:spLocks noGrp="1"/>
          </p:cNvSpPr>
          <p:nvPr>
            <p:ph type="title"/>
          </p:nvPr>
        </p:nvSpPr>
        <p:spPr>
          <a:xfrm>
            <a:off x="0" y="274638"/>
            <a:ext cx="9134038" cy="457199"/>
          </a:xfrm>
        </p:spPr>
        <p:txBody>
          <a:bodyPr vert="horz" lIns="91440" tIns="45720" rIns="91440" bIns="45720" rtlCol="0" anchor="ctr">
            <a:normAutofit fontScale="90000"/>
          </a:bodyPr>
          <a:lstStyle/>
          <a:p>
            <a:r>
              <a:rPr lang="en-IN" sz="4000" dirty="0">
                <a:solidFill>
                  <a:schemeClr val="accent5">
                    <a:lumMod val="75000"/>
                  </a:schemeClr>
                </a:solidFill>
              </a:rPr>
              <a:t>Description</a:t>
            </a:r>
          </a:p>
        </p:txBody>
      </p:sp>
      <p:sp>
        <p:nvSpPr>
          <p:cNvPr id="3" name="Content Placeholder 2">
            <a:extLst>
              <a:ext uri="{FF2B5EF4-FFF2-40B4-BE49-F238E27FC236}">
                <a16:creationId xmlns:a16="http://schemas.microsoft.com/office/drawing/2014/main" id="{5DF0E85E-B5B4-40B8-A118-3C2BDB2321C3}"/>
              </a:ext>
            </a:extLst>
          </p:cNvPr>
          <p:cNvSpPr>
            <a:spLocks noGrp="1"/>
          </p:cNvSpPr>
          <p:nvPr>
            <p:ph idx="1"/>
          </p:nvPr>
        </p:nvSpPr>
        <p:spPr>
          <a:xfrm>
            <a:off x="19924" y="1667987"/>
            <a:ext cx="9124076" cy="3386469"/>
          </a:xfrm>
        </p:spPr>
        <p:txBody>
          <a:bodyPr>
            <a:normAutofit/>
          </a:bodyPr>
          <a:lstStyle/>
          <a:p>
            <a:pPr marL="0" indent="0">
              <a:buNone/>
            </a:pPr>
            <a:r>
              <a:rPr lang="en-IN" sz="2200" dirty="0">
                <a:latin typeface="Arial" panose="020B0604020202020204" pitchFamily="34" charset="0"/>
                <a:cs typeface="Arial" panose="020B0604020202020204" pitchFamily="34" charset="0"/>
              </a:rPr>
              <a:t>	</a:t>
            </a:r>
          </a:p>
          <a:p>
            <a:pPr marL="0" indent="0">
              <a:buNone/>
            </a:pPr>
            <a:r>
              <a:rPr lang="en-IN" sz="2200" dirty="0">
                <a:latin typeface="Arial" panose="020B0604020202020204" pitchFamily="34" charset="0"/>
                <a:cs typeface="Arial" panose="020B0604020202020204" pitchFamily="34" charset="0"/>
              </a:rPr>
              <a:t>This system describes how personalized emails-such as birthday, work anniversary under one category and in second category it provide actionable mails(leave, assets, meeting, Approval) i.e.  classification of incoming mails,  responses are generated using Azure Open AI and multiple intelligent agents.</a:t>
            </a:r>
          </a:p>
        </p:txBody>
      </p:sp>
      <p:pic>
        <p:nvPicPr>
          <p:cNvPr id="4" name="Picture 2" descr="YASH Technologies Logo &amp; Brand Assets ...">
            <a:extLst>
              <a:ext uri="{FF2B5EF4-FFF2-40B4-BE49-F238E27FC236}">
                <a16:creationId xmlns:a16="http://schemas.microsoft.com/office/drawing/2014/main" id="{67B6BA46-2F03-437F-A7C0-A9EFD60560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A7FBBF51-9BDF-4EAF-B446-ED8DFE530579}"/>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346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5270C-88A4-479F-8EBF-45357EB60B70}"/>
              </a:ext>
            </a:extLst>
          </p:cNvPr>
          <p:cNvSpPr>
            <a:spLocks noGrp="1"/>
          </p:cNvSpPr>
          <p:nvPr>
            <p:ph type="title"/>
          </p:nvPr>
        </p:nvSpPr>
        <p:spPr>
          <a:xfrm>
            <a:off x="0" y="291149"/>
            <a:ext cx="9144000" cy="623568"/>
          </a:xfrm>
        </p:spPr>
        <p:txBody>
          <a:bodyPr vert="horz" lIns="91440" tIns="45720" rIns="91440" bIns="45720" rtlCol="0" anchor="ctr">
            <a:normAutofit fontScale="90000"/>
          </a:bodyPr>
          <a:lstStyle/>
          <a:p>
            <a:r>
              <a:rPr lang="en-IN" dirty="0">
                <a:solidFill>
                  <a:schemeClr val="accent5">
                    <a:lumMod val="75000"/>
                  </a:schemeClr>
                </a:solidFill>
              </a:rPr>
              <a:t>Description</a:t>
            </a:r>
          </a:p>
        </p:txBody>
      </p:sp>
      <p:sp>
        <p:nvSpPr>
          <p:cNvPr id="3" name="Content Placeholder 2">
            <a:extLst>
              <a:ext uri="{FF2B5EF4-FFF2-40B4-BE49-F238E27FC236}">
                <a16:creationId xmlns:a16="http://schemas.microsoft.com/office/drawing/2014/main" id="{1D216DA8-557A-4421-802E-27E226ACECB8}"/>
              </a:ext>
            </a:extLst>
          </p:cNvPr>
          <p:cNvSpPr>
            <a:spLocks noGrp="1"/>
          </p:cNvSpPr>
          <p:nvPr>
            <p:ph idx="1"/>
          </p:nvPr>
        </p:nvSpPr>
        <p:spPr>
          <a:xfrm>
            <a:off x="0" y="1457960"/>
            <a:ext cx="9144000" cy="3507445"/>
          </a:xfrm>
        </p:spPr>
        <p:txBody>
          <a:bodyPr>
            <a:normAutofit/>
          </a:bodyPr>
          <a:lstStyle/>
          <a:p>
            <a:pPr marL="0" indent="0">
              <a:buNone/>
            </a:pPr>
            <a:r>
              <a:rPr lang="en-IN" sz="2000" dirty="0">
                <a:latin typeface="Arial" panose="020B0604020202020204" pitchFamily="34" charset="0"/>
                <a:cs typeface="Arial" panose="020B0604020202020204" pitchFamily="34" charset="0"/>
              </a:rPr>
              <a:t>The user profile is converted into embeddings and stores in Pinecone. , RAG retrieves the best-matching template blocks.</a:t>
            </a:r>
          </a:p>
          <a:p>
            <a:pPr marL="0" indent="0">
              <a:buNone/>
            </a:pPr>
            <a:r>
              <a:rPr lang="en-IN" sz="2000" dirty="0">
                <a:latin typeface="Arial" panose="020B0604020202020204" pitchFamily="34" charset="0"/>
                <a:cs typeface="Arial" panose="020B0604020202020204" pitchFamily="34" charset="0"/>
              </a:rPr>
              <a:t>LLM generates personalised email text.</a:t>
            </a:r>
          </a:p>
        </p:txBody>
      </p:sp>
      <p:pic>
        <p:nvPicPr>
          <p:cNvPr id="4" name="Picture 2" descr="YASH Technologies Logo &amp; Brand Assets ...">
            <a:extLst>
              <a:ext uri="{FF2B5EF4-FFF2-40B4-BE49-F238E27FC236}">
                <a16:creationId xmlns:a16="http://schemas.microsoft.com/office/drawing/2014/main" id="{62D5576C-F6E3-4504-939A-42BC077A4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DF2197FC-4BD1-4DFA-A544-14EDD27C76E6}"/>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0942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74E4-82F8-4FA6-9FEE-80ADB1822798}"/>
              </a:ext>
            </a:extLst>
          </p:cNvPr>
          <p:cNvSpPr>
            <a:spLocks noGrp="1"/>
          </p:cNvSpPr>
          <p:nvPr>
            <p:ph type="title"/>
          </p:nvPr>
        </p:nvSpPr>
        <p:spPr>
          <a:xfrm>
            <a:off x="-9962" y="263622"/>
            <a:ext cx="9144000" cy="457199"/>
          </a:xfrm>
        </p:spPr>
        <p:txBody>
          <a:bodyPr>
            <a:normAutofit fontScale="90000"/>
          </a:bodyPr>
          <a:lstStyle/>
          <a:p>
            <a:r>
              <a:rPr lang="en-IN" dirty="0">
                <a:solidFill>
                  <a:schemeClr val="accent5">
                    <a:lumMod val="75000"/>
                  </a:schemeClr>
                </a:solidFill>
              </a:rPr>
              <a:t>Workflow Overview</a:t>
            </a:r>
          </a:p>
        </p:txBody>
      </p:sp>
      <p:pic>
        <p:nvPicPr>
          <p:cNvPr id="10" name="Picture 2" descr="YASH Technologies Logo &amp; Brand Assets ...">
            <a:extLst>
              <a:ext uri="{FF2B5EF4-FFF2-40B4-BE49-F238E27FC236}">
                <a16:creationId xmlns:a16="http://schemas.microsoft.com/office/drawing/2014/main" id="{8AAA5904-DFE3-446A-A3B7-ACC042231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6" descr="C:\Users\priya.gochide\AppData\Local\Microsoft\Windows\INetCache\Content.MSO\376E0137.tmp">
            <a:extLst>
              <a:ext uri="{FF2B5EF4-FFF2-40B4-BE49-F238E27FC236}">
                <a16:creationId xmlns:a16="http://schemas.microsoft.com/office/drawing/2014/main" id="{CB123B9F-3445-4CEC-8FFE-89983D3CE8AD}"/>
              </a:ext>
            </a:extLst>
          </p:cNvPr>
          <p:cNvPicPr>
            <a:picLocks noGrp="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276447" y="1656971"/>
            <a:ext cx="8665533" cy="3672441"/>
          </a:xfrm>
          <a:prstGeom prst="rect">
            <a:avLst/>
          </a:prstGeom>
          <a:noFill/>
          <a:ln>
            <a:solidFill>
              <a:sysClr val="windowText" lastClr="000000"/>
            </a:solidFill>
          </a:ln>
        </p:spPr>
      </p:pic>
      <p:pic>
        <p:nvPicPr>
          <p:cNvPr id="11" name="Picture 2" descr="more than what you think">
            <a:extLst>
              <a:ext uri="{FF2B5EF4-FFF2-40B4-BE49-F238E27FC236}">
                <a16:creationId xmlns:a16="http://schemas.microsoft.com/office/drawing/2014/main" id="{BB5EE81D-BDF5-48BF-83C6-3CF0F4F037C4}"/>
              </a:ext>
              <a:ext uri="{C183D7F6-B498-43B3-948B-1728B52AA6E4}">
                <adec:decorative xmlns:adec="http://schemas.microsoft.com/office/drawing/2017/decorative" val="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753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A63BE-F51D-47E2-B7EB-77E46A47BE36}"/>
              </a:ext>
            </a:extLst>
          </p:cNvPr>
          <p:cNvSpPr>
            <a:spLocks noGrp="1"/>
          </p:cNvSpPr>
          <p:nvPr>
            <p:ph type="title"/>
          </p:nvPr>
        </p:nvSpPr>
        <p:spPr>
          <a:xfrm>
            <a:off x="0" y="274638"/>
            <a:ext cx="9144000" cy="1143000"/>
          </a:xfrm>
        </p:spPr>
        <p:txBody>
          <a:bodyPr vert="horz" lIns="91440" tIns="45720" rIns="91440" bIns="45720" rtlCol="0" anchor="ctr">
            <a:normAutofit fontScale="90000"/>
          </a:bodyPr>
          <a:lstStyle/>
          <a:p>
            <a:r>
              <a:rPr lang="en-IN" dirty="0">
                <a:solidFill>
                  <a:schemeClr val="accent5">
                    <a:lumMod val="75000"/>
                  </a:schemeClr>
                </a:solidFill>
              </a:rPr>
              <a:t>Role of MCP</a:t>
            </a:r>
            <a:br>
              <a:rPr lang="en-IN" dirty="0">
                <a:solidFill>
                  <a:schemeClr val="accent5">
                    <a:lumMod val="75000"/>
                  </a:schemeClr>
                </a:solidFill>
              </a:rPr>
            </a:br>
            <a:r>
              <a:rPr lang="en-IN" sz="3100" dirty="0">
                <a:solidFill>
                  <a:schemeClr val="accent5">
                    <a:lumMod val="75000"/>
                  </a:schemeClr>
                </a:solidFill>
              </a:rPr>
              <a:t>(Model Context Protocol)</a:t>
            </a:r>
            <a:endParaRPr lang="en-IN" dirty="0">
              <a:solidFill>
                <a:schemeClr val="accent5">
                  <a:lumMod val="75000"/>
                </a:schemeClr>
              </a:solidFill>
            </a:endParaRPr>
          </a:p>
        </p:txBody>
      </p:sp>
      <p:sp>
        <p:nvSpPr>
          <p:cNvPr id="3" name="Content Placeholder 2">
            <a:extLst>
              <a:ext uri="{FF2B5EF4-FFF2-40B4-BE49-F238E27FC236}">
                <a16:creationId xmlns:a16="http://schemas.microsoft.com/office/drawing/2014/main" id="{85924B29-8E9A-4AAE-B360-2426AAC42B90}"/>
              </a:ext>
            </a:extLst>
          </p:cNvPr>
          <p:cNvSpPr>
            <a:spLocks noGrp="1"/>
          </p:cNvSpPr>
          <p:nvPr>
            <p:ph idx="1"/>
          </p:nvPr>
        </p:nvSpPr>
        <p:spPr>
          <a:xfrm>
            <a:off x="0" y="1975557"/>
            <a:ext cx="9134038" cy="2479485"/>
          </a:xfrm>
        </p:spPr>
        <p:txBody>
          <a:bodyPr>
            <a:normAutofit/>
          </a:bodyPr>
          <a:lstStyle/>
          <a:p>
            <a:pPr>
              <a:buFont typeface="Wingdings" panose="05000000000000000000" pitchFamily="2" charset="2"/>
              <a:buChar char="§"/>
            </a:pPr>
            <a:r>
              <a:rPr lang="en-IN" sz="2200" dirty="0">
                <a:latin typeface="Arial" panose="020B0604020202020204" pitchFamily="34" charset="0"/>
                <a:cs typeface="Arial" panose="020B0604020202020204" pitchFamily="34" charset="0"/>
              </a:rPr>
              <a:t>In this project MCP is basically used for agent to agent communication.</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Also we have used Selector Group Chat, the model analyses the situation to decide who is best suited to respond next.</a:t>
            </a:r>
          </a:p>
        </p:txBody>
      </p:sp>
      <p:pic>
        <p:nvPicPr>
          <p:cNvPr id="4" name="Picture 2" descr="YASH Technologies Logo &amp; Brand Assets ...">
            <a:extLst>
              <a:ext uri="{FF2B5EF4-FFF2-40B4-BE49-F238E27FC236}">
                <a16:creationId xmlns:a16="http://schemas.microsoft.com/office/drawing/2014/main" id="{8A598F9E-5306-4441-A27B-7EE6863E7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more than what you think">
            <a:extLst>
              <a:ext uri="{FF2B5EF4-FFF2-40B4-BE49-F238E27FC236}">
                <a16:creationId xmlns:a16="http://schemas.microsoft.com/office/drawing/2014/main" id="{079C6F38-AB3B-4C4C-86A9-32925B6DE794}"/>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2845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F09D6-5AFA-45FE-8E8A-BEFB68F3E07E}"/>
              </a:ext>
            </a:extLst>
          </p:cNvPr>
          <p:cNvSpPr>
            <a:spLocks noGrp="1"/>
          </p:cNvSpPr>
          <p:nvPr>
            <p:ph type="title"/>
          </p:nvPr>
        </p:nvSpPr>
        <p:spPr>
          <a:xfrm>
            <a:off x="0" y="274638"/>
            <a:ext cx="9134038" cy="607864"/>
          </a:xfrm>
        </p:spPr>
        <p:txBody>
          <a:bodyPr vert="horz" lIns="91440" tIns="45720" rIns="91440" bIns="45720" rtlCol="0" anchor="ctr">
            <a:normAutofit fontScale="90000"/>
          </a:bodyPr>
          <a:lstStyle/>
          <a:p>
            <a:r>
              <a:rPr lang="en-IN" sz="4000" dirty="0">
                <a:solidFill>
                  <a:schemeClr val="accent5">
                    <a:lumMod val="75000"/>
                  </a:schemeClr>
                </a:solidFill>
              </a:rPr>
              <a:t>Role of Pinecone</a:t>
            </a:r>
          </a:p>
        </p:txBody>
      </p:sp>
      <p:sp>
        <p:nvSpPr>
          <p:cNvPr id="3" name="Content Placeholder 2">
            <a:extLst>
              <a:ext uri="{FF2B5EF4-FFF2-40B4-BE49-F238E27FC236}">
                <a16:creationId xmlns:a16="http://schemas.microsoft.com/office/drawing/2014/main" id="{02A44320-9094-4BD7-9997-6F2D3AA97158}"/>
              </a:ext>
            </a:extLst>
          </p:cNvPr>
          <p:cNvSpPr>
            <a:spLocks noGrp="1"/>
          </p:cNvSpPr>
          <p:nvPr>
            <p:ph idx="1"/>
          </p:nvPr>
        </p:nvSpPr>
        <p:spPr>
          <a:xfrm>
            <a:off x="31898" y="1600201"/>
            <a:ext cx="9134038" cy="4109484"/>
          </a:xfrm>
        </p:spPr>
        <p:txBody>
          <a:bodyPr>
            <a:normAutofit/>
          </a:bodyPr>
          <a:lstStyle/>
          <a:p>
            <a:pPr>
              <a:buFont typeface="Wingdings" panose="05000000000000000000" pitchFamily="2" charset="2"/>
              <a:buChar char="§"/>
            </a:pPr>
            <a:r>
              <a:rPr lang="en-IN" sz="2200" dirty="0">
                <a:latin typeface="Arial" panose="020B0604020202020204" pitchFamily="34" charset="0"/>
                <a:cs typeface="Arial" panose="020B0604020202020204" pitchFamily="34" charset="0"/>
              </a:rPr>
              <a:t>Stores user profile embeddings.</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Performs similarity search for </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Tone selection</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CTA prediction</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Best fit template retrieval.</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Enables scalable vector search</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Improves personalization accuracy.</a:t>
            </a:r>
          </a:p>
        </p:txBody>
      </p:sp>
      <p:pic>
        <p:nvPicPr>
          <p:cNvPr id="4" name="Picture 2" descr="YASH Technologies Logo &amp; Brand Assets ...">
            <a:extLst>
              <a:ext uri="{FF2B5EF4-FFF2-40B4-BE49-F238E27FC236}">
                <a16:creationId xmlns:a16="http://schemas.microsoft.com/office/drawing/2014/main" id="{A3D987F2-F4F1-4767-B36B-BEE4C37B40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CD314622-82AD-40A9-B1E5-751A2392FB72}"/>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577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6D42F-2095-449A-BDDA-16D4629CB05E}"/>
              </a:ext>
            </a:extLst>
          </p:cNvPr>
          <p:cNvSpPr>
            <a:spLocks noGrp="1"/>
          </p:cNvSpPr>
          <p:nvPr>
            <p:ph type="title"/>
          </p:nvPr>
        </p:nvSpPr>
        <p:spPr>
          <a:xfrm>
            <a:off x="0" y="274638"/>
            <a:ext cx="9134038" cy="554702"/>
          </a:xfrm>
        </p:spPr>
        <p:txBody>
          <a:bodyPr vert="horz" lIns="91440" tIns="45720" rIns="91440" bIns="45720" rtlCol="0" anchor="ctr">
            <a:normAutofit fontScale="90000"/>
          </a:bodyPr>
          <a:lstStyle/>
          <a:p>
            <a:r>
              <a:rPr lang="en-IN" sz="4000" dirty="0">
                <a:solidFill>
                  <a:schemeClr val="accent5">
                    <a:lumMod val="75000"/>
                  </a:schemeClr>
                </a:solidFill>
              </a:rPr>
              <a:t>Role of RAG</a:t>
            </a:r>
          </a:p>
        </p:txBody>
      </p:sp>
      <p:sp>
        <p:nvSpPr>
          <p:cNvPr id="3" name="Content Placeholder 2">
            <a:extLst>
              <a:ext uri="{FF2B5EF4-FFF2-40B4-BE49-F238E27FC236}">
                <a16:creationId xmlns:a16="http://schemas.microsoft.com/office/drawing/2014/main" id="{3CC7CAAD-C8CE-4F8B-A5BD-D494C2817D77}"/>
              </a:ext>
            </a:extLst>
          </p:cNvPr>
          <p:cNvSpPr>
            <a:spLocks noGrp="1"/>
          </p:cNvSpPr>
          <p:nvPr>
            <p:ph idx="1"/>
          </p:nvPr>
        </p:nvSpPr>
        <p:spPr>
          <a:xfrm>
            <a:off x="0" y="1476131"/>
            <a:ext cx="9134038" cy="3319153"/>
          </a:xfrm>
        </p:spPr>
        <p:txBody>
          <a:bodyPr>
            <a:normAutofit/>
          </a:bodyPr>
          <a:lstStyle/>
          <a:p>
            <a:pPr>
              <a:buFont typeface="Wingdings" panose="05000000000000000000" pitchFamily="2" charset="2"/>
              <a:buChar char="§"/>
            </a:pPr>
            <a:r>
              <a:rPr lang="en-IN" sz="2200" dirty="0">
                <a:latin typeface="Arial" panose="020B0604020202020204" pitchFamily="34" charset="0"/>
                <a:cs typeface="Arial" panose="020B0604020202020204" pitchFamily="34" charset="0"/>
              </a:rPr>
              <a:t>Retrieves relevant content blocks such as:</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Email Templates</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Greetings</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CTA variations</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Tone-specific fragments</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Keeps output factual, contextual, and grounded</a:t>
            </a:r>
          </a:p>
          <a:p>
            <a:pPr>
              <a:buFont typeface="Wingdings" panose="05000000000000000000" pitchFamily="2" charset="2"/>
              <a:buChar char="§"/>
            </a:pPr>
            <a:r>
              <a:rPr lang="en-IN" sz="2200" dirty="0" err="1">
                <a:latin typeface="Arial" panose="020B0604020202020204" pitchFamily="34" charset="0"/>
                <a:cs typeface="Arial" panose="020B0604020202020204" pitchFamily="34" charset="0"/>
              </a:rPr>
              <a:t>EnhanceLLM</a:t>
            </a:r>
            <a:r>
              <a:rPr lang="en-IN" sz="2200" dirty="0">
                <a:latin typeface="Arial" panose="020B0604020202020204" pitchFamily="34" charset="0"/>
                <a:cs typeface="Arial" panose="020B0604020202020204" pitchFamily="34" charset="0"/>
              </a:rPr>
              <a:t> with external documents and templates.</a:t>
            </a:r>
          </a:p>
        </p:txBody>
      </p:sp>
      <p:pic>
        <p:nvPicPr>
          <p:cNvPr id="4" name="Picture 2" descr="YASH Technologies Logo &amp; Brand Assets ...">
            <a:extLst>
              <a:ext uri="{FF2B5EF4-FFF2-40B4-BE49-F238E27FC236}">
                <a16:creationId xmlns:a16="http://schemas.microsoft.com/office/drawing/2014/main" id="{ED83A073-3F72-4BE1-91E9-D7BE6FF1C0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2CAED97C-F22E-46EF-9357-D210F741D523}"/>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764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2063-ED11-4473-9193-03CD9F47DBDB}"/>
              </a:ext>
            </a:extLst>
          </p:cNvPr>
          <p:cNvSpPr>
            <a:spLocks noGrp="1"/>
          </p:cNvSpPr>
          <p:nvPr>
            <p:ph type="title"/>
          </p:nvPr>
        </p:nvSpPr>
        <p:spPr>
          <a:xfrm>
            <a:off x="0" y="274638"/>
            <a:ext cx="9134038" cy="1143000"/>
          </a:xfrm>
        </p:spPr>
        <p:txBody>
          <a:bodyPr vert="horz" lIns="91440" tIns="45720" rIns="91440" bIns="45720" rtlCol="0" anchor="ctr">
            <a:noAutofit/>
          </a:bodyPr>
          <a:lstStyle/>
          <a:p>
            <a:r>
              <a:rPr lang="en-IN" sz="4000" dirty="0">
                <a:solidFill>
                  <a:schemeClr val="accent5">
                    <a:lumMod val="75000"/>
                  </a:schemeClr>
                </a:solidFill>
              </a:rPr>
              <a:t>Email Personalisation </a:t>
            </a:r>
            <a:br>
              <a:rPr lang="en-IN" sz="4000" dirty="0">
                <a:solidFill>
                  <a:schemeClr val="accent5">
                    <a:lumMod val="75000"/>
                  </a:schemeClr>
                </a:solidFill>
              </a:rPr>
            </a:br>
            <a:r>
              <a:rPr lang="en-IN" sz="4000" dirty="0">
                <a:solidFill>
                  <a:schemeClr val="accent5">
                    <a:lumMod val="75000"/>
                  </a:schemeClr>
                </a:solidFill>
              </a:rPr>
              <a:t>Engine</a:t>
            </a:r>
          </a:p>
        </p:txBody>
      </p:sp>
      <p:sp>
        <p:nvSpPr>
          <p:cNvPr id="3" name="Content Placeholder 2">
            <a:extLst>
              <a:ext uri="{FF2B5EF4-FFF2-40B4-BE49-F238E27FC236}">
                <a16:creationId xmlns:a16="http://schemas.microsoft.com/office/drawing/2014/main" id="{2A93B418-5311-43DB-9E74-8FD3FCBF225A}"/>
              </a:ext>
            </a:extLst>
          </p:cNvPr>
          <p:cNvSpPr>
            <a:spLocks noGrp="1"/>
          </p:cNvSpPr>
          <p:nvPr>
            <p:ph idx="1"/>
          </p:nvPr>
        </p:nvSpPr>
        <p:spPr>
          <a:xfrm>
            <a:off x="0" y="1879863"/>
            <a:ext cx="9144000" cy="3652284"/>
          </a:xfrm>
        </p:spPr>
        <p:txBody>
          <a:bodyPr>
            <a:normAutofit/>
          </a:bodyPr>
          <a:lstStyle/>
          <a:p>
            <a:pPr>
              <a:buFont typeface="Wingdings" panose="05000000000000000000" pitchFamily="2" charset="2"/>
              <a:buChar char="§"/>
            </a:pPr>
            <a:r>
              <a:rPr lang="en-IN" sz="2200" dirty="0">
                <a:latin typeface="Arial" panose="020B0604020202020204" pitchFamily="34" charset="0"/>
                <a:cs typeface="Arial" panose="020B0604020202020204" pitchFamily="34" charset="0"/>
              </a:rPr>
              <a:t>Inputs: profile + retrieved templates + MCP context + LLM reasoning.</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Injects personalised fields:</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Name</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Role</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Interests</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Domain/industry</a:t>
            </a:r>
          </a:p>
          <a:p>
            <a:pPr lvl="1">
              <a:buFont typeface="Wingdings" panose="05000000000000000000" pitchFamily="2" charset="2"/>
              <a:buChar char="§"/>
            </a:pPr>
            <a:r>
              <a:rPr lang="en-IN" sz="2200" dirty="0">
                <a:latin typeface="Arial" panose="020B0604020202020204" pitchFamily="34" charset="0"/>
                <a:cs typeface="Arial" panose="020B0604020202020204" pitchFamily="34" charset="0"/>
              </a:rPr>
              <a:t>Behavioural history</a:t>
            </a:r>
          </a:p>
          <a:p>
            <a:pPr>
              <a:buFont typeface="Wingdings" panose="05000000000000000000" pitchFamily="2" charset="2"/>
              <a:buChar char="§"/>
            </a:pPr>
            <a:endParaRPr lang="en-IN" sz="2200" dirty="0">
              <a:latin typeface="Arial" panose="020B0604020202020204" pitchFamily="34" charset="0"/>
              <a:cs typeface="Arial" panose="020B0604020202020204" pitchFamily="34" charset="0"/>
            </a:endParaRPr>
          </a:p>
        </p:txBody>
      </p:sp>
      <p:pic>
        <p:nvPicPr>
          <p:cNvPr id="4" name="Picture 2" descr="YASH Technologies Logo &amp; Brand Assets ...">
            <a:extLst>
              <a:ext uri="{FF2B5EF4-FFF2-40B4-BE49-F238E27FC236}">
                <a16:creationId xmlns:a16="http://schemas.microsoft.com/office/drawing/2014/main" id="{BF2AA729-7D8B-4544-A1AC-1DB83EB728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19271F06-5CD3-44CD-A607-BB50479EB5A1}"/>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353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5443-3C09-4A62-9182-A0478E4BF5B5}"/>
              </a:ext>
            </a:extLst>
          </p:cNvPr>
          <p:cNvSpPr>
            <a:spLocks noGrp="1"/>
          </p:cNvSpPr>
          <p:nvPr>
            <p:ph type="title"/>
          </p:nvPr>
        </p:nvSpPr>
        <p:spPr>
          <a:xfrm>
            <a:off x="0" y="274638"/>
            <a:ext cx="9134038" cy="512171"/>
          </a:xfrm>
        </p:spPr>
        <p:txBody>
          <a:bodyPr vert="horz" lIns="91440" tIns="45720" rIns="91440" bIns="45720" rtlCol="0" anchor="ctr">
            <a:noAutofit/>
          </a:bodyPr>
          <a:lstStyle/>
          <a:p>
            <a:r>
              <a:rPr lang="en-IN" sz="4000" dirty="0">
                <a:solidFill>
                  <a:schemeClr val="accent5">
                    <a:lumMod val="75000"/>
                  </a:schemeClr>
                </a:solidFill>
              </a:rPr>
              <a:t>Tech stack</a:t>
            </a:r>
          </a:p>
        </p:txBody>
      </p:sp>
      <p:sp>
        <p:nvSpPr>
          <p:cNvPr id="3" name="Content Placeholder 2">
            <a:extLst>
              <a:ext uri="{FF2B5EF4-FFF2-40B4-BE49-F238E27FC236}">
                <a16:creationId xmlns:a16="http://schemas.microsoft.com/office/drawing/2014/main" id="{AADC7599-7A14-458C-9396-67AC4CA9BEC3}"/>
              </a:ext>
            </a:extLst>
          </p:cNvPr>
          <p:cNvSpPr>
            <a:spLocks noGrp="1"/>
          </p:cNvSpPr>
          <p:nvPr>
            <p:ph idx="1"/>
          </p:nvPr>
        </p:nvSpPr>
        <p:spPr>
          <a:xfrm>
            <a:off x="0" y="1600200"/>
            <a:ext cx="9134038" cy="4013791"/>
          </a:xfrm>
        </p:spPr>
        <p:txBody>
          <a:bodyPr>
            <a:normAutofit/>
          </a:bodyPr>
          <a:lstStyle/>
          <a:p>
            <a:pPr marL="0" indent="0">
              <a:buNone/>
            </a:pPr>
            <a:r>
              <a:rPr lang="en-IN" sz="2200" dirty="0" err="1">
                <a:latin typeface="Arial" panose="020B0604020202020204" pitchFamily="34" charset="0"/>
                <a:cs typeface="Arial" panose="020B0604020202020204" pitchFamily="34" charset="0"/>
              </a:rPr>
              <a:t>FrontEnd</a:t>
            </a:r>
            <a:r>
              <a:rPr lang="en-IN" sz="2200" dirty="0">
                <a:latin typeface="Arial" panose="020B0604020202020204" pitchFamily="34" charset="0"/>
                <a:cs typeface="Arial" panose="020B0604020202020204" pitchFamily="34" charset="0"/>
              </a:rPr>
              <a:t>: </a:t>
            </a:r>
            <a:r>
              <a:rPr lang="en-IN" sz="2200" dirty="0" err="1">
                <a:latin typeface="Arial" panose="020B0604020202020204" pitchFamily="34" charset="0"/>
                <a:cs typeface="Arial" panose="020B0604020202020204" pitchFamily="34" charset="0"/>
              </a:rPr>
              <a:t>Streamlit</a:t>
            </a:r>
            <a:br>
              <a:rPr lang="en-IN" sz="2200" dirty="0">
                <a:latin typeface="Arial" panose="020B0604020202020204" pitchFamily="34" charset="0"/>
                <a:cs typeface="Arial" panose="020B0604020202020204" pitchFamily="34" charset="0"/>
              </a:rPr>
            </a:br>
            <a:r>
              <a:rPr lang="en-IN" sz="2200" dirty="0">
                <a:latin typeface="Arial" panose="020B0604020202020204" pitchFamily="34" charset="0"/>
                <a:cs typeface="Arial" panose="020B0604020202020204" pitchFamily="34" charset="0"/>
              </a:rPr>
              <a:t>AI &amp; Context layer</a:t>
            </a:r>
          </a:p>
          <a:p>
            <a:pPr lvl="1"/>
            <a:r>
              <a:rPr lang="en-IN" sz="2200" dirty="0">
                <a:latin typeface="Arial" panose="020B0604020202020204" pitchFamily="34" charset="0"/>
                <a:cs typeface="Arial" panose="020B0604020202020204" pitchFamily="34" charset="0"/>
              </a:rPr>
              <a:t>LLM</a:t>
            </a:r>
          </a:p>
          <a:p>
            <a:pPr lvl="1"/>
            <a:r>
              <a:rPr lang="en-IN" sz="2200" dirty="0">
                <a:latin typeface="Arial" panose="020B0604020202020204" pitchFamily="34" charset="0"/>
                <a:cs typeface="Arial" panose="020B0604020202020204" pitchFamily="34" charset="0"/>
              </a:rPr>
              <a:t>RAG</a:t>
            </a:r>
          </a:p>
          <a:p>
            <a:pPr lvl="1"/>
            <a:r>
              <a:rPr lang="en-IN" sz="2200" dirty="0">
                <a:latin typeface="Arial" panose="020B0604020202020204" pitchFamily="34" charset="0"/>
                <a:cs typeface="Arial" panose="020B0604020202020204" pitchFamily="34" charset="0"/>
              </a:rPr>
              <a:t>MCP</a:t>
            </a:r>
          </a:p>
          <a:p>
            <a:pPr lvl="1"/>
            <a:r>
              <a:rPr lang="en-IN" sz="2200" dirty="0">
                <a:latin typeface="Arial" panose="020B0604020202020204" pitchFamily="34" charset="0"/>
                <a:cs typeface="Arial" panose="020B0604020202020204" pitchFamily="34" charset="0"/>
              </a:rPr>
              <a:t>Embeddings Model(text- embedding-3-small)</a:t>
            </a:r>
          </a:p>
          <a:p>
            <a:pPr marL="0" indent="0">
              <a:buNone/>
            </a:pPr>
            <a:r>
              <a:rPr lang="en-IN" sz="2200" dirty="0">
                <a:latin typeface="Arial" panose="020B0604020202020204" pitchFamily="34" charset="0"/>
                <a:cs typeface="Arial" panose="020B0604020202020204" pitchFamily="34" charset="0"/>
              </a:rPr>
              <a:t>Storage layer </a:t>
            </a:r>
          </a:p>
          <a:p>
            <a:pPr marL="0" indent="0">
              <a:buNone/>
            </a:pPr>
            <a:r>
              <a:rPr lang="en-IN" sz="2200" dirty="0">
                <a:latin typeface="Arial" panose="020B0604020202020204" pitchFamily="34" charset="0"/>
                <a:cs typeface="Arial" panose="020B0604020202020204" pitchFamily="34" charset="0"/>
              </a:rPr>
              <a:t>	- Pinecone vector DB</a:t>
            </a:r>
          </a:p>
          <a:p>
            <a:pPr marL="0" indent="0">
              <a:buNone/>
            </a:pPr>
            <a:r>
              <a:rPr lang="en-IN" sz="2200" dirty="0">
                <a:latin typeface="Arial" panose="020B0604020202020204" pitchFamily="34" charset="0"/>
                <a:cs typeface="Arial" panose="020B0604020202020204" pitchFamily="34" charset="0"/>
              </a:rPr>
              <a:t>Backend </a:t>
            </a:r>
          </a:p>
          <a:p>
            <a:pPr marL="0" indent="0">
              <a:buNone/>
            </a:pPr>
            <a:r>
              <a:rPr lang="en-IN" sz="2200" dirty="0">
                <a:latin typeface="Arial" panose="020B0604020202020204" pitchFamily="34" charset="0"/>
                <a:cs typeface="Arial" panose="020B0604020202020204" pitchFamily="34" charset="0"/>
              </a:rPr>
              <a:t>	- Python+ </a:t>
            </a:r>
            <a:r>
              <a:rPr lang="en-IN" sz="2200" dirty="0" err="1">
                <a:latin typeface="Arial" panose="020B0604020202020204" pitchFamily="34" charset="0"/>
                <a:cs typeface="Arial" panose="020B0604020202020204" pitchFamily="34" charset="0"/>
              </a:rPr>
              <a:t>FastAPI</a:t>
            </a:r>
            <a:r>
              <a:rPr lang="en-IN" sz="2200" dirty="0">
                <a:latin typeface="Arial" panose="020B0604020202020204" pitchFamily="34" charset="0"/>
                <a:cs typeface="Arial" panose="020B0604020202020204" pitchFamily="34" charset="0"/>
              </a:rPr>
              <a:t>	</a:t>
            </a:r>
          </a:p>
          <a:p>
            <a:pPr marL="0" indent="0">
              <a:buNone/>
            </a:pPr>
            <a:endParaRPr lang="en-IN" sz="2200" dirty="0">
              <a:latin typeface="Arial" panose="020B0604020202020204" pitchFamily="34" charset="0"/>
              <a:cs typeface="Arial" panose="020B0604020202020204" pitchFamily="34" charset="0"/>
            </a:endParaRPr>
          </a:p>
          <a:p>
            <a:pPr marL="0" indent="0">
              <a:buNone/>
            </a:pPr>
            <a:endParaRPr lang="en-IN" sz="2200" dirty="0">
              <a:latin typeface="Arial" panose="020B0604020202020204" pitchFamily="34" charset="0"/>
              <a:cs typeface="Arial" panose="020B0604020202020204" pitchFamily="34" charset="0"/>
            </a:endParaRPr>
          </a:p>
        </p:txBody>
      </p:sp>
      <p:pic>
        <p:nvPicPr>
          <p:cNvPr id="4" name="Picture 2" descr="YASH Technologies Logo &amp; Brand Assets ...">
            <a:extLst>
              <a:ext uri="{FF2B5EF4-FFF2-40B4-BE49-F238E27FC236}">
                <a16:creationId xmlns:a16="http://schemas.microsoft.com/office/drawing/2014/main" id="{976052A0-C5FD-4D74-8D69-C87BEA266B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452713B8-D333-486E-9E2F-9EBA83A7F44F}"/>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647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F8363-025A-4885-90D3-1527963EF64A}"/>
              </a:ext>
            </a:extLst>
          </p:cNvPr>
          <p:cNvSpPr>
            <a:spLocks noGrp="1"/>
          </p:cNvSpPr>
          <p:nvPr>
            <p:ph type="title"/>
          </p:nvPr>
        </p:nvSpPr>
        <p:spPr>
          <a:xfrm>
            <a:off x="0" y="274638"/>
            <a:ext cx="9144000" cy="618497"/>
          </a:xfrm>
        </p:spPr>
        <p:txBody>
          <a:bodyPr vert="horz" lIns="91440" tIns="45720" rIns="91440" bIns="45720" rtlCol="0" anchor="ctr">
            <a:noAutofit/>
          </a:bodyPr>
          <a:lstStyle/>
          <a:p>
            <a:r>
              <a:rPr lang="en-IN" sz="4000" dirty="0">
                <a:solidFill>
                  <a:schemeClr val="accent5">
                    <a:lumMod val="75000"/>
                  </a:schemeClr>
                </a:solidFill>
              </a:rPr>
              <a:t>Advantages</a:t>
            </a:r>
          </a:p>
        </p:txBody>
      </p:sp>
      <p:sp>
        <p:nvSpPr>
          <p:cNvPr id="3" name="Content Placeholder 2">
            <a:extLst>
              <a:ext uri="{FF2B5EF4-FFF2-40B4-BE49-F238E27FC236}">
                <a16:creationId xmlns:a16="http://schemas.microsoft.com/office/drawing/2014/main" id="{9BE11B87-A2A1-466F-A9CD-BA8E141671AD}"/>
              </a:ext>
            </a:extLst>
          </p:cNvPr>
          <p:cNvSpPr>
            <a:spLocks noGrp="1"/>
          </p:cNvSpPr>
          <p:nvPr>
            <p:ph idx="1"/>
          </p:nvPr>
        </p:nvSpPr>
        <p:spPr>
          <a:xfrm>
            <a:off x="0" y="1600201"/>
            <a:ext cx="9144000" cy="3769242"/>
          </a:xfrm>
        </p:spPr>
        <p:txBody>
          <a:bodyPr>
            <a:normAutofit/>
          </a:bodyPr>
          <a:lstStyle/>
          <a:p>
            <a:pPr>
              <a:buFont typeface="Wingdings" panose="05000000000000000000" pitchFamily="2" charset="2"/>
              <a:buChar char="§"/>
            </a:pPr>
            <a:r>
              <a:rPr lang="en-IN" sz="2200" dirty="0">
                <a:latin typeface="Arial" panose="020B0604020202020204" pitchFamily="34" charset="0"/>
                <a:cs typeface="Arial" panose="020B0604020202020204" pitchFamily="34" charset="0"/>
              </a:rPr>
              <a:t>Personalisation at scale.</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Faster communication cycles</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Reduces manual workload.</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Less hallucination due to RAG + MCP</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High scalability with Pinecone.</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Intelligent automated workflow</a:t>
            </a:r>
          </a:p>
          <a:p>
            <a:pPr>
              <a:buFont typeface="Wingdings" panose="05000000000000000000" pitchFamily="2" charset="2"/>
              <a:buChar char="§"/>
            </a:pPr>
            <a:endParaRPr lang="en-IN" sz="2200" dirty="0">
              <a:latin typeface="Arial" panose="020B0604020202020204" pitchFamily="34" charset="0"/>
              <a:cs typeface="Arial" panose="020B0604020202020204" pitchFamily="34" charset="0"/>
            </a:endParaRPr>
          </a:p>
        </p:txBody>
      </p:sp>
      <p:pic>
        <p:nvPicPr>
          <p:cNvPr id="4" name="Picture 2" descr="YASH Technologies Logo &amp; Brand Assets ...">
            <a:extLst>
              <a:ext uri="{FF2B5EF4-FFF2-40B4-BE49-F238E27FC236}">
                <a16:creationId xmlns:a16="http://schemas.microsoft.com/office/drawing/2014/main" id="{306906A5-67C8-464C-BB97-8C29F5C425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157A7AA3-6501-4122-9FF4-2D6CFCC66815}"/>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2580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19016-8BCD-49A1-88FF-B08CB75F3A08}"/>
              </a:ext>
            </a:extLst>
          </p:cNvPr>
          <p:cNvSpPr>
            <a:spLocks noGrp="1"/>
          </p:cNvSpPr>
          <p:nvPr>
            <p:ph type="title"/>
          </p:nvPr>
        </p:nvSpPr>
        <p:spPr>
          <a:xfrm>
            <a:off x="9962" y="274638"/>
            <a:ext cx="9134038" cy="597232"/>
          </a:xfrm>
        </p:spPr>
        <p:txBody>
          <a:bodyPr vert="horz" lIns="91440" tIns="45720" rIns="91440" bIns="45720" rtlCol="0" anchor="ctr">
            <a:noAutofit/>
          </a:bodyPr>
          <a:lstStyle/>
          <a:p>
            <a:r>
              <a:rPr lang="en-IN" sz="4000" dirty="0">
                <a:solidFill>
                  <a:schemeClr val="accent5">
                    <a:lumMod val="75000"/>
                  </a:schemeClr>
                </a:solidFill>
              </a:rPr>
              <a:t>Use cases</a:t>
            </a:r>
          </a:p>
        </p:txBody>
      </p:sp>
      <p:sp>
        <p:nvSpPr>
          <p:cNvPr id="3" name="Content Placeholder 2">
            <a:extLst>
              <a:ext uri="{FF2B5EF4-FFF2-40B4-BE49-F238E27FC236}">
                <a16:creationId xmlns:a16="http://schemas.microsoft.com/office/drawing/2014/main" id="{46567E5B-C33A-4C90-B1ED-C70CE8DD6CD7}"/>
              </a:ext>
            </a:extLst>
          </p:cNvPr>
          <p:cNvSpPr>
            <a:spLocks noGrp="1"/>
          </p:cNvSpPr>
          <p:nvPr>
            <p:ph idx="1"/>
          </p:nvPr>
        </p:nvSpPr>
        <p:spPr>
          <a:xfrm>
            <a:off x="0" y="1536407"/>
            <a:ext cx="9134038" cy="2886737"/>
          </a:xfrm>
        </p:spPr>
        <p:txBody>
          <a:bodyPr>
            <a:normAutofit/>
          </a:bodyPr>
          <a:lstStyle/>
          <a:p>
            <a:pPr>
              <a:buFont typeface="Wingdings" panose="05000000000000000000" pitchFamily="2" charset="2"/>
              <a:buChar char="§"/>
            </a:pPr>
            <a:r>
              <a:rPr lang="en-IN" sz="2200" dirty="0">
                <a:latin typeface="Arial" panose="020B0604020202020204" pitchFamily="34" charset="0"/>
                <a:cs typeface="Arial" panose="020B0604020202020204" pitchFamily="34" charset="0"/>
              </a:rPr>
              <a:t>Birthday/ Work Anniversary auto emails.</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Asset, Meeting, Approval, Leave</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HR workflow communication</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Customer Engagement</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Summary of the day</a:t>
            </a:r>
          </a:p>
        </p:txBody>
      </p:sp>
      <p:pic>
        <p:nvPicPr>
          <p:cNvPr id="4" name="Picture 2" descr="YASH Technologies Logo &amp; Brand Assets ...">
            <a:extLst>
              <a:ext uri="{FF2B5EF4-FFF2-40B4-BE49-F238E27FC236}">
                <a16:creationId xmlns:a16="http://schemas.microsoft.com/office/drawing/2014/main" id="{B4EE09D0-7974-4891-8F46-2DC6B4A26C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E592123E-4228-48A4-A6A3-437A46176F4B}"/>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958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9AD3E-0C42-4124-9C6C-6B8C89A22145}"/>
              </a:ext>
            </a:extLst>
          </p:cNvPr>
          <p:cNvSpPr>
            <a:spLocks noGrp="1"/>
          </p:cNvSpPr>
          <p:nvPr>
            <p:ph type="title"/>
          </p:nvPr>
        </p:nvSpPr>
        <p:spPr>
          <a:xfrm>
            <a:off x="0" y="274638"/>
            <a:ext cx="9134038" cy="629129"/>
          </a:xfrm>
        </p:spPr>
        <p:txBody>
          <a:bodyPr vert="horz" lIns="91440" tIns="45720" rIns="91440" bIns="45720" rtlCol="0" anchor="ctr">
            <a:noAutofit/>
          </a:bodyPr>
          <a:lstStyle/>
          <a:p>
            <a:r>
              <a:rPr lang="en-IN" sz="4000" dirty="0">
                <a:solidFill>
                  <a:schemeClr val="accent5">
                    <a:lumMod val="75000"/>
                  </a:schemeClr>
                </a:solidFill>
              </a:rPr>
              <a:t>Future Enhancement</a:t>
            </a:r>
          </a:p>
        </p:txBody>
      </p:sp>
      <p:sp>
        <p:nvSpPr>
          <p:cNvPr id="3" name="Content Placeholder 2">
            <a:extLst>
              <a:ext uri="{FF2B5EF4-FFF2-40B4-BE49-F238E27FC236}">
                <a16:creationId xmlns:a16="http://schemas.microsoft.com/office/drawing/2014/main" id="{235F14EC-9F22-41F5-9699-73E95920A863}"/>
              </a:ext>
            </a:extLst>
          </p:cNvPr>
          <p:cNvSpPr>
            <a:spLocks noGrp="1"/>
          </p:cNvSpPr>
          <p:nvPr>
            <p:ph idx="1"/>
          </p:nvPr>
        </p:nvSpPr>
        <p:spPr>
          <a:xfrm>
            <a:off x="-1" y="1600200"/>
            <a:ext cx="9134037" cy="3226981"/>
          </a:xfrm>
        </p:spPr>
        <p:txBody>
          <a:bodyPr>
            <a:normAutofit/>
          </a:bodyPr>
          <a:lstStyle/>
          <a:p>
            <a:pPr>
              <a:buFont typeface="Wingdings" panose="05000000000000000000" pitchFamily="2" charset="2"/>
              <a:buChar char="§"/>
            </a:pPr>
            <a:r>
              <a:rPr lang="en-IN" sz="2200" dirty="0">
                <a:latin typeface="Arial" panose="020B0604020202020204" pitchFamily="34" charset="0"/>
                <a:cs typeface="Arial" panose="020B0604020202020204" pitchFamily="34" charset="0"/>
              </a:rPr>
              <a:t>Behaviour-based content prediction</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Real-time email reply summarization.</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Predict best send time for each user for maximum open rates.</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Track open, click, bounce, and unsubscribe metrics to refine strategy.</a:t>
            </a:r>
          </a:p>
        </p:txBody>
      </p:sp>
      <p:pic>
        <p:nvPicPr>
          <p:cNvPr id="4" name="Picture 2" descr="YASH Technologies Logo &amp; Brand Assets ...">
            <a:extLst>
              <a:ext uri="{FF2B5EF4-FFF2-40B4-BE49-F238E27FC236}">
                <a16:creationId xmlns:a16="http://schemas.microsoft.com/office/drawing/2014/main" id="{ABBA37EB-F6A7-48C1-9C19-2F15BC677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B059D32A-59D4-4E7F-8746-619C41C15743}"/>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8657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1CCFF-BB5F-4E85-82B1-09C7B27E23E1}"/>
              </a:ext>
            </a:extLst>
          </p:cNvPr>
          <p:cNvSpPr>
            <a:spLocks noGrp="1"/>
          </p:cNvSpPr>
          <p:nvPr>
            <p:ph type="title"/>
          </p:nvPr>
        </p:nvSpPr>
        <p:spPr>
          <a:xfrm>
            <a:off x="0" y="274638"/>
            <a:ext cx="9134038" cy="597232"/>
          </a:xfrm>
        </p:spPr>
        <p:txBody>
          <a:bodyPr vert="horz" lIns="91440" tIns="45720" rIns="91440" bIns="45720" rtlCol="0" anchor="ctr">
            <a:noAutofit/>
          </a:bodyPr>
          <a:lstStyle/>
          <a:p>
            <a:r>
              <a:rPr lang="en-IN" sz="4000" dirty="0">
                <a:solidFill>
                  <a:schemeClr val="accent5">
                    <a:lumMod val="75000"/>
                  </a:schemeClr>
                </a:solidFill>
              </a:rPr>
              <a:t>Conclusion</a:t>
            </a:r>
          </a:p>
        </p:txBody>
      </p:sp>
      <p:sp>
        <p:nvSpPr>
          <p:cNvPr id="3" name="Content Placeholder 2">
            <a:extLst>
              <a:ext uri="{FF2B5EF4-FFF2-40B4-BE49-F238E27FC236}">
                <a16:creationId xmlns:a16="http://schemas.microsoft.com/office/drawing/2014/main" id="{9A7F25BD-FA27-444F-8FFD-77B471D73E51}"/>
              </a:ext>
            </a:extLst>
          </p:cNvPr>
          <p:cNvSpPr>
            <a:spLocks noGrp="1"/>
          </p:cNvSpPr>
          <p:nvPr>
            <p:ph idx="1"/>
          </p:nvPr>
        </p:nvSpPr>
        <p:spPr>
          <a:xfrm>
            <a:off x="9962" y="1600201"/>
            <a:ext cx="9134038" cy="2748516"/>
          </a:xfrm>
        </p:spPr>
        <p:txBody>
          <a:bodyPr>
            <a:normAutofit/>
          </a:bodyPr>
          <a:lstStyle/>
          <a:p>
            <a:pPr>
              <a:buFont typeface="Wingdings" panose="05000000000000000000" pitchFamily="2" charset="2"/>
              <a:buChar char="§"/>
            </a:pPr>
            <a:r>
              <a:rPr lang="en-IN" sz="2200" dirty="0">
                <a:latin typeface="Arial" panose="020B0604020202020204" pitchFamily="34" charset="0"/>
                <a:cs typeface="Arial" panose="020B0604020202020204" pitchFamily="34" charset="0"/>
              </a:rPr>
              <a:t>Modern AI-powered email system combining RAG +MCP +Pinecone</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Enables accurate, personalised email generation at scale.</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Ensures consistent, contextual communication.</a:t>
            </a:r>
          </a:p>
          <a:p>
            <a:pPr>
              <a:buFont typeface="Wingdings" panose="05000000000000000000" pitchFamily="2" charset="2"/>
              <a:buChar char="§"/>
            </a:pPr>
            <a:r>
              <a:rPr lang="en-IN" sz="2200" dirty="0">
                <a:latin typeface="Arial" panose="020B0604020202020204" pitchFamily="34" charset="0"/>
                <a:cs typeface="Arial" panose="020B0604020202020204" pitchFamily="34" charset="0"/>
              </a:rPr>
              <a:t>Ideal for enterprise mass-mailing needs.</a:t>
            </a:r>
          </a:p>
        </p:txBody>
      </p:sp>
      <p:pic>
        <p:nvPicPr>
          <p:cNvPr id="4" name="Picture 2" descr="YASH Technologies Logo &amp; Brand Assets ...">
            <a:extLst>
              <a:ext uri="{FF2B5EF4-FFF2-40B4-BE49-F238E27FC236}">
                <a16:creationId xmlns:a16="http://schemas.microsoft.com/office/drawing/2014/main" id="{5214173E-4870-418E-90E4-1FB9F8D0DD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38" y="13670"/>
            <a:ext cx="1440000" cy="13933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re than what you think">
            <a:extLst>
              <a:ext uri="{FF2B5EF4-FFF2-40B4-BE49-F238E27FC236}">
                <a16:creationId xmlns:a16="http://schemas.microsoft.com/office/drawing/2014/main" id="{50CAA98E-714E-4AB6-A3BA-E8B8B20F5414}"/>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15611"/>
            <a:ext cx="9144000" cy="842390"/>
          </a:xfrm>
          <a:prstGeom prst="rect">
            <a:avLst/>
          </a:prstGeom>
          <a:noFill/>
          <a:effectLst>
            <a:glow>
              <a:schemeClr val="bg1"/>
            </a:glow>
            <a:outerShdw blurRad="431800" dist="927100" dir="6660000" sx="88000" sy="88000" algn="ctr" rotWithShape="0">
              <a:srgbClr val="000000">
                <a:alpha val="0"/>
              </a:srgbClr>
            </a:outerShdw>
            <a:reflection blurRad="6350" stA="900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596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1190</TotalTime>
  <Words>550</Words>
  <Application>Microsoft Office PowerPoint</Application>
  <PresentationFormat>On-screen Show (4:3)</PresentationFormat>
  <Paragraphs>92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Wingdings</vt:lpstr>
      <vt:lpstr>Office Theme</vt:lpstr>
      <vt:lpstr>Profile-Based Customised Emails For Mass Mailing </vt:lpstr>
      <vt:lpstr>Introduction</vt:lpstr>
      <vt:lpstr>Problem Statement</vt:lpstr>
      <vt:lpstr>Objective</vt:lpstr>
      <vt:lpstr>Proposed Solution</vt:lpstr>
      <vt:lpstr>System Architecture</vt:lpstr>
      <vt:lpstr>Description</vt:lpstr>
      <vt:lpstr>Description</vt:lpstr>
      <vt:lpstr>Workflow Overview</vt:lpstr>
      <vt:lpstr>Role of MCP (Model Context Protocol)</vt:lpstr>
      <vt:lpstr>Role of Pinecone</vt:lpstr>
      <vt:lpstr>Role of RAG</vt:lpstr>
      <vt:lpstr>Email Personalisation  Engine</vt:lpstr>
      <vt:lpstr>Tech stack</vt:lpstr>
      <vt:lpstr>Advantages</vt:lpstr>
      <vt:lpstr>Use cases</vt:lpstr>
      <vt:lpstr>Future Enhancement</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 Testing with Statistics (Beginner to Advanced)</dc:title>
  <dc:subject/>
  <dc:creator>Priya Prafulla Gochide</dc:creator>
  <cp:keywords/>
  <dc:description>generated using python-pptx</dc:description>
  <cp:lastModifiedBy>Priya Prafulla Gochide</cp:lastModifiedBy>
  <cp:revision>57</cp:revision>
  <dcterms:created xsi:type="dcterms:W3CDTF">2013-01-27T09:14:16Z</dcterms:created>
  <dcterms:modified xsi:type="dcterms:W3CDTF">2025-11-17T15:43:49Z</dcterms:modified>
  <cp:category/>
</cp:coreProperties>
</file>